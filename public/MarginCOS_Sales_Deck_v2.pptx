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18688" y="457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M E R C I A L   O P E R A T I N G   S Y S T E 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114800" cy="2286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guessing.</a:t>
            </a:r>
            <a:endParaRPr lang="en-US" sz="3400" dirty="0"/>
          </a:p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recovering margin.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MarginCOS finds and recovers the margin your P&amp;L is silently losing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five minutes, from a single Excel upload.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24688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50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– 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UPLIFT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3931920"/>
            <a:ext cx="24688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950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Modules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3931920"/>
            <a:ext cx="24688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950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 Min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Carthena Advisory  ·  margincos.com  ·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B L E 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FMCG and Manufacturing CFO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Nigeria Is Fighting the Same Battle.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4630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5603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inflation since 2022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60320" cy="14630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25603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have SKU-level margin visibility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14630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25603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20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₦15–30M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Big Four diagnostic report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pricing decisions made on instinct, not data. Margin absorbed instead of recovered.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MarginCOS was built to close this gap.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Q U E S T I O N S   N O B O D Y   C A N   A N S W E R   F A S T   E N O U G 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commercial questions. One platform. Under five minutes.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2529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SKUs are absorbing inflation that should have been passed through?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115568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2527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22529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promotions are destroying margin while the sales team celebrates volume?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975104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975104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1226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08483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are quietly financing distributors at your expense?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975104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975104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1226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208483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P&amp;L look like under the next cost shock — before it hits?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834640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718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9443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should be repriced, protected, or delisted — right now?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83464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834640"/>
            <a:ext cx="502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9718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29443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your willingness-to-pay headroom before volume breaks?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A T   M A R G I N C O S   D O E 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Upload. Eight Engines. One Board-Ready Report.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260604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70432"/>
            <a:ext cx="2606040" cy="6400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280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1920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2276856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33172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SKU, pricing, cost, and channel data — as a single Excel file. No ERP. No IT project.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170432"/>
            <a:ext cx="260604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170432"/>
            <a:ext cx="26060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280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47872" y="1920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47872" y="2212848"/>
            <a:ext cx="2276856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33172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intelligent engines run simultaneously across your portfolio. Results in seconds.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1170432"/>
            <a:ext cx="260604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170432"/>
            <a:ext cx="260604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80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2212848"/>
            <a:ext cx="2276856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33172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PDF diagnostic report, ready for your board. Plus an interactive dashboard to explore the data.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ERP integration required  ·  No consultant required  ·  No waiting for month-end  ·  Most clients live within 48 hours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E I G H T   E N G I N E S   ·   P A R T   1   O F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Engines 1–3: Pricing, Cost Recovery, Channel Economics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1208" y="109728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097280"/>
            <a:ext cx="2651760" cy="41148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Pricing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elasticity modelling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WTP headroom before volume breaks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proposed price changes — before you move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SKUs priced below elasticity-adjusted optimum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09728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097280"/>
            <a:ext cx="26517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Cost Pass-Through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1296" y="157276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inflation recovered vs absorbed into margin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classification: Managed · Watch · At Risk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vs industry leaders (~75% recovery target)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SKUs bleeding the portfolio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109728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097280"/>
            <a:ext cx="265176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Channel Economics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1572768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of each route-to-market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financing cost of trade credit (days × rate)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destroying margin through credit terms alone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realisation gap vs portfolio average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E I G H T   E N G I N E S   ·   P A R T   2   O F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Engines 4–8: Trade, Portfolio, Scenarios + Enterprise 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1208" y="109728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097280"/>
            <a:ext cx="265176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Trade Execution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42316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promotion: margin-accretive or destructive?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volume lift required per discount depth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₦ P&amp;L impact of every trade promotion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promotions to cut, restructure, or keep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09728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097280"/>
            <a:ext cx="265176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SKU Portfolio Rationalisation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11296" y="1572768"/>
            <a:ext cx="242316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matrix: margin contribution vs strategic volume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· Grow · Reprice · Review — per SKU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specific reprice and delist candidates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margin at stake from dilutive SKUs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39896" y="4133088"/>
            <a:ext cx="1920240" cy="228600"/>
          </a:xfrm>
          <a:prstGeom prst="rect">
            <a:avLst>
              <a:gd name="adj" fmla="val 32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4133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ENTERPRISE MODULE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27064" y="109728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27064" y="1097280"/>
            <a:ext cx="26517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115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Forward Inflation Scenarios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4224" y="1572768"/>
            <a:ext cx="2423160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P&amp;L under 20%–75% cost inflation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recovery rate scenarios simultaneously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monthly hit if zero action taken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table to anchor pricing commitments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92824" y="4133088"/>
            <a:ext cx="1920240" cy="228600"/>
          </a:xfrm>
          <a:prstGeom prst="rect">
            <a:avLst>
              <a:gd name="adj" fmla="val 32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4133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ENTERPRISE MODULE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21208" y="477316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plan also includes: Channel Mix Optimisation · Distributor Credit Scoring · Regional Margin Atlas · Price Architecture Integrity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O U T P U 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Board-Ready Diagnostic Report.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Under Five Minutes.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MarginCOS PDF export delivers a branded, structured diagnostic across all modules — ready to table at your next board or ExCo meeting.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page — structured and scannable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status, callout narrative, SKU-level tables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Nigerian FMCG leaders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items with naira values attached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B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with one click from the dashboard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868680"/>
            <a:ext cx="292608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charge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3258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₦15–30M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8076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 diagnostic report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2468880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MarginCOS delivers the equivalent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2834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under 5 minutes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807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own data, at a fraction of the cost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O   I T ' S   B U I L T   F O 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organisations where margin is a board-level conversation.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100584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Multi-SKU portfolios facing dual pressure from input cost inflation and price-sensitive consumers.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54864" cy="100584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587752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complex cost structures needing precision on which cost lines to recover and which to absorb.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383280"/>
            <a:ext cx="54864" cy="100584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Retail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3730752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multi-channel complexity where margin leaks silently through credit, discount, and channel mix.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S I G N E D   F O R :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416052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/ CEO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64592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margin visibility without waiting for month-end close.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441448"/>
            <a:ext cx="416052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78892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 and cost pass-through tracking anchored to real benchmark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416052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57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Director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pricing decisions, promotion ROI, and channel economics in one place.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W   I T   W O R K 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Most clients are live within 48 hours.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2708" y="1280160"/>
            <a:ext cx="685800" cy="685800"/>
          </a:xfrm>
          <a:prstGeom prst="ellipse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" y="2084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1550" y="2487168"/>
            <a:ext cx="937260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7860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MarginCOS Excel template. Pre-mapped columns for SKU master, pricing, cost structure, and channel data.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95728" y="2240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170432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0108" y="1280160"/>
            <a:ext cx="685800" cy="68580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0108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70048" y="2084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28950" y="2487168"/>
            <a:ext cx="937260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57860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completed file. The platform validates every column and flags errors before analysis runs.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3128" y="2240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1170432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07508" y="128016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7508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27448" y="2084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86350" y="2487168"/>
            <a:ext cx="937260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57860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interactive modules render instantly. Drill into any pillar — see SKU-level detail, RAG status, and narrative callouts.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10528" y="22402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75120" y="1170432"/>
            <a:ext cx="1874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64908" y="1280160"/>
            <a:ext cx="685800" cy="6858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4908" y="1280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4848" y="2084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Present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43750" y="2487168"/>
            <a:ext cx="937260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578608"/>
            <a:ext cx="17099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export. Branded pages. Board-ready in under five minutes from upload.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I C I N 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Tiers. Start with a Free Diagnostic Session.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2542032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78992"/>
            <a:ext cx="2542032" cy="54864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70432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</a:t>
            </a:r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199339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($213/mo billed annually)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231136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$450 implementation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523744"/>
            <a:ext cx="2212848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06040"/>
            <a:ext cx="2286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core pillar (P1 — Pricing Intelligence)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elasticity modelling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upload cycle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diagnostic export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9272" y="1078992"/>
            <a:ext cx="2542032" cy="3611880"/>
          </a:xfrm>
          <a:prstGeom prst="rect">
            <a:avLst/>
          </a:prstGeom>
          <a:solidFill>
            <a:srgbClr val="1B2A4A"/>
          </a:solidFill>
          <a:ln w="19050">
            <a:solidFill>
              <a:srgbClr val="0D8F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078992"/>
            <a:ext cx="2542032" cy="54864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2192" y="960120"/>
            <a:ext cx="1536192" cy="22860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960120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O S T   P O P U L A 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02152" y="1170432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83864" y="14630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$850</a:t>
            </a:r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83864" y="199339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($723/mo billed annually)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83864" y="2231136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$1,300 implementation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83864" y="2523744"/>
            <a:ext cx="2212848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2606040"/>
            <a:ext cx="2286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margin pillars (P1–P4)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elasticity + regional segmentation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history &amp; period switcher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Portfolio Rationalisation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Inflation Engine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9904" y="1078992"/>
            <a:ext cx="2542032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078992"/>
            <a:ext cx="2542032" cy="54864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170432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54496" y="146304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</a:t>
            </a:r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54496" y="199339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($2,040/mo billed annually)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2231136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onboarding included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54496" y="2523744"/>
            <a:ext cx="2212848" cy="2286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2606040"/>
            <a:ext cx="2286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Optimisation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Credit Scoring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team access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analyst support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integrations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pricing details and NGN / EUR / GBP rates at www.margincos.com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I L T   B 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Carthena Advisory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MarginCOS is built and operated by Carthena Advisory — a financial and management advisory firm with over two decades of hands-on P&amp;L work across FMCG, manufacturing, and financial services in Nigeria and West Africa.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tool because our clients kept asking the same six questions. Now the platform asks them for you.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59152"/>
            <a:ext cx="64008" cy="64008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 Years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63240" y="252374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experience in Nigerian FMCG &amp; manufacturing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08960"/>
            <a:ext cx="64008" cy="64008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186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₦B+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32735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client P&amp;L work guided by the same analytical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8321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58768"/>
            <a:ext cx="64008" cy="640080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684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 Organisations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4023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 the MarginCOS platform as of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D8F8F">
              <a:alpha val="12000"/>
            </a:srgbClr>
          </a:solidFill>
          <a:ln w="12700">
            <a:solidFill>
              <a:srgbClr val="0D8F8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T   S T E 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Recovering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Today.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30-minute diagnostic session. We'll show you exactly what MarginCOS finds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portfolio like yours — before you commit to anything.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2743200" cy="530352"/>
          </a:xfrm>
          <a:prstGeom prst="rect">
            <a:avLst/>
          </a:prstGeom>
          <a:solidFill>
            <a:srgbClr val="0D8F8F"/>
          </a:solidFill>
          <a:ln w="12700">
            <a:solidFill>
              <a:srgbClr val="0D8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1868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Diagnostic Session  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3218688"/>
            <a:ext cx="242316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21868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Free Demo  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22860"/>
          </a:xfrm>
          <a:prstGeom prst="rect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5537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margincos.com  ·  info@carthenaadvisory.com  ·  Lagos, Nigeria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482803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carthenaadvisory.com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MarginCOS Sales Deck</dc:title>
  <dc:subject>PptxGenJS Presentation</dc:subject>
  <dc:creator>PptxGenJS</dc:creator>
  <cp:lastModifiedBy>PptxGenJS</cp:lastModifiedBy>
  <cp:revision>1</cp:revision>
  <dcterms:created xsi:type="dcterms:W3CDTF">2026-03-14T16:19:43Z</dcterms:created>
  <dcterms:modified xsi:type="dcterms:W3CDTF">2026-03-14T16:19:43Z</dcterms:modified>
</cp:coreProperties>
</file>